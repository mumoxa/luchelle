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73ed61f89423d" /><Relationship Type="http://schemas.openxmlformats.org/officeDocument/2006/relationships/extended-properties" Target="/docProps/app.xml" Id="R6ec0de9536e54339" /><Relationship Type="http://schemas.openxmlformats.org/officeDocument/2006/relationships/officeDocument" Target="/ppt/presentation.xml" Id="R25d36b5b3e5e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308d1e51f437c"/>
  </p:sldMasterIdLst>
  <p:notesMasterIdLst>
    <p:notesMasterId xmlns:r="http://schemas.openxmlformats.org/officeDocument/2006/relationships" r:id="R2059d049aa614834"/>
  </p:notesMasterIdLst>
  <p:sldIdLst>
    <p:sldId xmlns:r="http://schemas.openxmlformats.org/officeDocument/2006/relationships" id="256" r:id="R1c3a08baa3eb40a4"/>
    <p:sldId xmlns:r="http://schemas.openxmlformats.org/officeDocument/2006/relationships" id="257" r:id="R5af6ddd13c3f4048"/>
    <p:sldId xmlns:r="http://schemas.openxmlformats.org/officeDocument/2006/relationships" id="258" r:id="R0798932ed4dd43a0"/>
    <p:sldId xmlns:r="http://schemas.openxmlformats.org/officeDocument/2006/relationships" id="259" r:id="R6d3ec63b0677442a"/>
    <p:sldId xmlns:r="http://schemas.openxmlformats.org/officeDocument/2006/relationships" id="260" r:id="Rf896ff03042147f2"/>
    <p:sldId xmlns:r="http://schemas.openxmlformats.org/officeDocument/2006/relationships" id="261" r:id="R5fb1cc747ecb48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13a49f9ca4ed6" /><Relationship Type="http://schemas.openxmlformats.org/officeDocument/2006/relationships/slideMaster" Target="/ppt/slideMasters/slideMaster1.xml" Id="Rd8a308d1e51f437c" /><Relationship Type="http://schemas.openxmlformats.org/officeDocument/2006/relationships/notesMaster" Target="/ppt/notesMasters/notesMaster1.xml" Id="R2059d049aa614834" /><Relationship Type="http://schemas.openxmlformats.org/officeDocument/2006/relationships/presProps" Target="/ppt/presProps.xml" Id="Rd93859d127d24063" /><Relationship Type="http://schemas.openxmlformats.org/officeDocument/2006/relationships/tableStyles" Target="/ppt/tableStyles.xml" Id="Rd04565d4b5a844b3" /><Relationship Type="http://schemas.openxmlformats.org/officeDocument/2006/relationships/slide" Target="/ppt/slides/slide1.xml" Id="R1c3a08baa3eb40a4" /><Relationship Type="http://schemas.openxmlformats.org/officeDocument/2006/relationships/slide" Target="/ppt/slides/slide2.xml" Id="R5af6ddd13c3f4048" /><Relationship Type="http://schemas.openxmlformats.org/officeDocument/2006/relationships/slide" Target="/ppt/slides/slide3.xml" Id="R0798932ed4dd43a0" /><Relationship Type="http://schemas.openxmlformats.org/officeDocument/2006/relationships/slide" Target="/ppt/slides/slide4.xml" Id="R6d3ec63b0677442a" /><Relationship Type="http://schemas.openxmlformats.org/officeDocument/2006/relationships/slide" Target="/ppt/slides/slide5.xml" Id="Rf896ff03042147f2" /><Relationship Type="http://schemas.openxmlformats.org/officeDocument/2006/relationships/slide" Target="/ppt/slides/slide6.xml" Id="R5fb1cc747ecb48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63d91c1a84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dca0692f141b1" /><Relationship Type="http://schemas.openxmlformats.org/officeDocument/2006/relationships/notesMaster" Target="/ppt/notesMasters/notesMaster1.xml" Id="R1fde2323fcb8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a6da842d347ef" /><Relationship Type="http://schemas.openxmlformats.org/officeDocument/2006/relationships/notesMaster" Target="/ppt/notesMasters/notesMaster1.xml" Id="Rb52bbfb89b8c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68dcbca384d9d" /><Relationship Type="http://schemas.openxmlformats.org/officeDocument/2006/relationships/notesMaster" Target="/ppt/notesMasters/notesMaster1.xml" Id="R522a2e480fe5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c816b73aaf4646" /><Relationship Type="http://schemas.openxmlformats.org/officeDocument/2006/relationships/notesMaster" Target="/ppt/notesMasters/notesMaster1.xml" Id="R0411ca82875247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c3a7820984da0" /><Relationship Type="http://schemas.openxmlformats.org/officeDocument/2006/relationships/notesMaster" Target="/ppt/notesMasters/notesMaster1.xml" Id="R64b68df31a2c45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4d8c39fdcf4af8" /><Relationship Type="http://schemas.openxmlformats.org/officeDocument/2006/relationships/notesMaster" Target="/ppt/notesMasters/notesMaster1.xml" Id="R0f190e13540b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day everyone. My South African hero is Natalie du Toit. Natalie is a famous South African swimmer. She was born in Cape Town and loved swimming from a young 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https://www.paralympic.org/news/day-natalie-toit-made-olympic-history</a:t>
            </a:r>
          </a:p>
          <a:p xmlns:a="http://schemas.openxmlformats.org/drawingml/2006/main">
            <a:r>
              <a:t>- https://www.panoramaps.co.za/</a:t>
            </a:r>
          </a:p>
          <a:p xmlns:a="http://schemas.openxmlformats.org/drawingml/2006/main">
            <a:r>
              <a:t>- Personal photograph supplied by the Crafford family.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Natalie was 17 years old, she was involved in a serious scooter accident. Doctors had to amputate her left leg. That could have stopped her from following her dreams. However, she was brave and did not give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https://www.paralympic.org/news/day-natalie-toit-made-olympic-history</a:t>
            </a:r>
          </a:p>
          <a:p xmlns:a="http://schemas.openxmlformats.org/drawingml/2006/main">
            <a:r>
              <a:t>- https://swimhistory.co.za/index.php/disabled-swimmers/natalie-du-toit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Natalie worked hard every day and started swimming again. She became a champion Paralympic swimmer. She even competed against swimmers without disabilities.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https://www.paralympic.org/news/day-natalie-toit-made-olympic-history</a:t>
            </a:r>
          </a:p>
          <a:p xmlns:a="http://schemas.openxmlformats.org/drawingml/2006/main">
            <a:r>
              <a:t>- https://www.commonwealthsport.com/news/4183180/where-are-they-now-natalie-du-toit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Natalie represented South Africa at the 2008 Olympic Games in Beijing. She competed in the 10-kilometre open-water race and showed that courage can take you further than anyone expects.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https://www.paralympic.org/news/day-natalie-toit-made-olympic-history</a:t>
            </a:r>
          </a:p>
          <a:p xmlns:a="http://schemas.openxmlformats.org/drawingml/2006/main">
            <a:r>
              <a:t>- https://genius-u-attachments.s3.amazonaws.com/uploads/article/image/3873277/natalie-du-toit-09-Medium.jpg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chose Natalie du Toit as my South African hero because she was a great swimmer, but more importantly, she never gave up on her dream. Her story makes me feel proud. She showed the world what a South African can achieve with courage and hard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https://www.gov.za/about-government/natalie-du-toit</a:t>
            </a:r>
          </a:p>
          <a:p xmlns:a="http://schemas.openxmlformats.org/drawingml/2006/main">
            <a:r>
              <a:t>- Personal photograph supplied by the Crafford family.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Natalie taught me that when something difficult happens, I must keep trying, believe in myself, work hard, and never give up. If Natalie were standing in front of me today, I would say: Natalie, you are a great swimmer, and you inspire me to never give up on my dreams. Thank you for listening.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https://www.paralympic.org/news/day-natalie-toit-made-olympic-history</a:t>
            </a:r>
          </a:p>
          <a:p xmlns:a="http://schemas.openxmlformats.org/drawingml/2006/main">
            <a:r>
              <a:t>- Personal photograph supplied by the Crafford family.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c435c68fc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2c9bc8f904b75" /><Relationship Type="http://schemas.openxmlformats.org/officeDocument/2006/relationships/slideLayout" Target="/ppt/slideLayouts/slideLayout1.xml" Id="Rb143a57b936c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43a57b936c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047268a494df7" /><Relationship Type="http://schemas.openxmlformats.org/officeDocument/2006/relationships/image" Target="/ppt/media/image.jpeg" Id="Recf20bb9134f4c17" /><Relationship Type="http://schemas.openxmlformats.org/officeDocument/2006/relationships/image" Target="/ppt/media/image.png" Id="Rcf5bf60116c44217" /><Relationship Type="http://schemas.openxmlformats.org/officeDocument/2006/relationships/notesSlide" Target="/ppt/notesSlides/notesSlide1.xml" Id="R93fb7599e688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3e9b4ad8471c" /><Relationship Type="http://schemas.openxmlformats.org/officeDocument/2006/relationships/image" Target="/ppt/media/image2.png" Id="R05771837e0bc4774" /><Relationship Type="http://schemas.openxmlformats.org/officeDocument/2006/relationships/notesSlide" Target="/ppt/notesSlides/notesSlide2.xml" Id="Rc68c25b13dcc42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dafc4a0d04451" /><Relationship Type="http://schemas.openxmlformats.org/officeDocument/2006/relationships/image" Target="/ppt/media/image2.jpeg" Id="Re44285f56e4f437a" /><Relationship Type="http://schemas.openxmlformats.org/officeDocument/2006/relationships/image" Target="/ppt/media/image3.png" Id="R41bd64d63ff64948" /><Relationship Type="http://schemas.openxmlformats.org/officeDocument/2006/relationships/notesSlide" Target="/ppt/notesSlides/notesSlide3.xml" Id="Re582a5753f2243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16c6312b3431e" /><Relationship Type="http://schemas.openxmlformats.org/officeDocument/2006/relationships/image" Target="/ppt/media/image3.jpeg" Id="R5e8a8498a89f4ebc" /><Relationship Type="http://schemas.openxmlformats.org/officeDocument/2006/relationships/image" Target="/ppt/media/image4.png" Id="Rc928d0865b5f4656" /><Relationship Type="http://schemas.openxmlformats.org/officeDocument/2006/relationships/notesSlide" Target="/ppt/notesSlides/notesSlide4.xml" Id="R178dd1e1c83844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63832146e49b5" /><Relationship Type="http://schemas.openxmlformats.org/officeDocument/2006/relationships/image" Target="/ppt/media/image4.jpeg" Id="R4fe0437f6ed441c0" /><Relationship Type="http://schemas.openxmlformats.org/officeDocument/2006/relationships/image" Target="/ppt/media/image5.png" Id="R67266f978d1341a4" /><Relationship Type="http://schemas.openxmlformats.org/officeDocument/2006/relationships/notesSlide" Target="/ppt/notesSlides/notesSlide5.xml" Id="Rb3e53e9e418a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159db25254da5" /><Relationship Type="http://schemas.openxmlformats.org/officeDocument/2006/relationships/image" Target="/ppt/media/image5.jpeg" Id="R683283d15a3a4c25" /><Relationship Type="http://schemas.openxmlformats.org/officeDocument/2006/relationships/image" Target="/ppt/media/image6.png" Id="Ra4fc44459eca4d87" /><Relationship Type="http://schemas.openxmlformats.org/officeDocument/2006/relationships/notesSlide" Target="/ppt/notesSlides/notesSlide6.xml" Id="Re5dc25fe3d1748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ld-edge">
            <a:extLst xmlns:a="http://schemas.openxmlformats.org/drawingml/2006/main">
              <a:ext uri="{FF2B5EF4-FFF2-40B4-BE49-F238E27FC236}">
                <a16:creationId xmlns:a16="http://schemas.microsoft.com/office/drawing/2014/main" id="{E62862A6-ACFF-402F-AEE7-30F677DC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reen-orbit">
            <a:extLst xmlns:a="http://schemas.openxmlformats.org/drawingml/2006/main">
              <a:ext uri="{FF2B5EF4-FFF2-40B4-BE49-F238E27FC236}">
                <a16:creationId xmlns:a16="http://schemas.microsoft.com/office/drawing/2014/main" id="{0613838D-43EA-49BB-9E63-F81221CB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542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7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rtrait-ring">
            <a:extLst xmlns:a="http://schemas.openxmlformats.org/drawingml/2006/main">
              <a:ext uri="{FF2B5EF4-FFF2-40B4-BE49-F238E27FC236}">
                <a16:creationId xmlns:a16="http://schemas.microsoft.com/office/drawing/2014/main" id="{1B6D1B86-3074-482B-8612-E931E134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1915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20bb9134f4c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971550"/>
            <a:ext cx="3600450" cy="3600450"/>
          </a:xfrm>
          <a:prstGeom xmlns:a="http://schemas.openxmlformats.org/drawingml/2006/main" prst="ellipse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bf60116c44217"/>
          <a:stretch xmlns:a="http://schemas.openxmlformats.org/drawingml/2006/main"/>
        </p:blipFill>
        <p:spPr>
          <a:xfrm xmlns:a="http://schemas.openxmlformats.org/drawingml/2006/main">
            <a:off x="657225" y="400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6" name="school-name">
            <a:extLst xmlns:a="http://schemas.openxmlformats.org/drawingml/2006/main">
              <a:ext uri="{FF2B5EF4-FFF2-40B4-BE49-F238E27FC236}">
                <a16:creationId xmlns:a16="http://schemas.microsoft.com/office/drawing/2014/main" id="{E59F044C-2B69-4026-AB45-F0113DAD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PANORAMA PRIMARY SCHOOL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D41DDD8-A97A-456A-B93B-348EFB8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81C"/>
                </a:solidFill>
              </a:defRPr>
            </a:pPr>
            <a:r>
              <a:rPr sz="1800" b="1">
                <a:solidFill>
                  <a:srgbClr val="FFB81C"/>
                </a:solidFill>
              </a:rPr>
              <a:t>MY SOUTH AFRICAN HERO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F23552B-1C67-4D7B-BC45-9E6981BE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Natalie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du Toit</a:t>
            </a:r>
          </a:p>
        </p:txBody>
      </p:sp>
      <p:sp>
        <p:nvSpPr>
          <p:cNvPr id="9" name="presenter">
            <a:extLst xmlns:a="http://schemas.openxmlformats.org/drawingml/2006/main">
              <a:ext uri="{FF2B5EF4-FFF2-40B4-BE49-F238E27FC236}">
                <a16:creationId xmlns:a16="http://schemas.microsoft.com/office/drawing/2014/main" id="{F018A648-07CC-44DB-9F52-F2F81F06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481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8E8"/>
                </a:solidFill>
              </a:defRPr>
            </a:pPr>
            <a:r>
              <a:rPr sz="1950" b="0">
                <a:solidFill>
                  <a:srgbClr val="FFF8E8"/>
                </a:solidFill>
              </a:rPr>
              <a:t>Presented by Luchelle Crafford</a:t>
            </a:r>
          </a:p>
        </p:txBody>
      </p:sp>
      <p:sp>
        <p:nvSpPr>
          <p:cNvPr id="10" name="grade">
            <a:extLst xmlns:a="http://schemas.openxmlformats.org/drawingml/2006/main">
              <a:ext uri="{FF2B5EF4-FFF2-40B4-BE49-F238E27FC236}">
                <a16:creationId xmlns:a16="http://schemas.microsoft.com/office/drawing/2014/main" id="{043374AC-8B1E-40CF-9E40-DEE62C59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D2C8"/>
                </a:solidFill>
              </a:defRPr>
            </a:pPr>
            <a:r>
              <a:rPr sz="1350" b="1">
                <a:solidFill>
                  <a:srgbClr val="69D2C8"/>
                </a:solidFill>
              </a:rPr>
              <a:t>GRADE 3A1</a:t>
            </a:r>
          </a:p>
        </p:txBody>
      </p:sp>
      <p:sp>
        <p:nvSpPr>
          <p:cNvPr id="11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E3EA1723-1A4D-4A06-8D48-3C6729C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94D75A0D-3AE2-402D-B98A-1FC1DA23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81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DA52A2-2CD1-4A12-A7DB-FAD60CB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2136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reen-panel">
            <a:extLst xmlns:a="http://schemas.openxmlformats.org/drawingml/2006/main">
              <a:ext uri="{FF2B5EF4-FFF2-40B4-BE49-F238E27FC236}">
                <a16:creationId xmlns:a16="http://schemas.microsoft.com/office/drawing/2014/main" id="{9A9A83A0-D6BA-4BCC-8DBE-B31D6F2D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71837e0bc4774"/>
          <a:srcRect xmlns:a="http://schemas.openxmlformats.org/drawingml/2006/main" l="0" t="17800" r="0" b="17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2914650"/>
            <a:ext cx="2762250" cy="2667000"/>
          </a:xfrm>
          <a:prstGeom xmlns:a="http://schemas.openxmlformats.org/drawingml/2006/main" prst="roundRect">
            <a:avLst>
              <a:gd name="adj" fmla="val 8571"/>
            </a:avLst>
          </a:prstGeom>
        </p:spPr>
      </p:pic>
      <p:sp>
        <p:nvSpPr>
          <p:cNvPr id="3" name="portrait-shadow">
            <a:extLst xmlns:a="http://schemas.openxmlformats.org/drawingml/2006/main">
              <a:ext uri="{FF2B5EF4-FFF2-40B4-BE49-F238E27FC236}">
                <a16:creationId xmlns:a16="http://schemas.microsoft.com/office/drawing/2014/main" id="{113CE4AB-ACCF-4B09-84C2-96B72BA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95575"/>
            <a:ext cx="2762250" cy="2667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">
            <a:extLst xmlns:a="http://schemas.openxmlformats.org/drawingml/2006/main">
              <a:ext uri="{FF2B5EF4-FFF2-40B4-BE49-F238E27FC236}">
                <a16:creationId xmlns:a16="http://schemas.microsoft.com/office/drawing/2014/main" id="{ACD20B17-DD2F-4971-A4BB-D3A83F07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FB81C"/>
                </a:solidFill>
              </a:defRPr>
            </a:pPr>
            <a:r>
              <a:rPr sz="7800" b="1">
                <a:solidFill>
                  <a:srgbClr val="FFB81C"/>
                </a:solidFill>
              </a:rPr>
              <a:t>17</a:t>
            </a:r>
          </a:p>
        </p:txBody>
      </p:sp>
      <p:sp>
        <p:nvSpPr>
          <p:cNvPr id="5" name="age-label">
            <a:extLst xmlns:a="http://schemas.openxmlformats.org/drawingml/2006/main">
              <a:ext uri="{FF2B5EF4-FFF2-40B4-BE49-F238E27FC236}">
                <a16:creationId xmlns:a16="http://schemas.microsoft.com/office/drawing/2014/main" id="{2FEA2C53-F30F-479E-958F-8EF8FBB2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YEARS OLD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82F249-5610-4B42-878B-93D7515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20015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D"/>
                </a:solidFill>
              </a:defRPr>
            </a:pPr>
            <a:r>
              <a:rPr sz="2925" b="1">
                <a:solidFill>
                  <a:srgbClr val="10231D"/>
                </a:solidFill>
              </a:rPr>
              <a:t>A serious scooter accident changed her life.</a:t>
            </a:r>
          </a:p>
        </p:txBody>
      </p:sp>
      <p:sp>
        <p:nvSpPr>
          <p:cNvPr id="7" name="fact">
            <a:extLst xmlns:a="http://schemas.openxmlformats.org/drawingml/2006/main">
              <a:ext uri="{FF2B5EF4-FFF2-40B4-BE49-F238E27FC236}">
                <a16:creationId xmlns:a16="http://schemas.microsoft.com/office/drawing/2014/main" id="{63544DBE-C9B6-4627-B9C9-6198CB9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4B36"/>
                </a:solidFill>
              </a:defRPr>
            </a:pPr>
            <a:r>
              <a:rPr sz="2025" b="0">
                <a:solidFill>
                  <a:srgbClr val="004B36"/>
                </a:solidFill>
              </a:rPr>
              <a:t>Doctors had to amputate</a:t>
            </a:r>
          </a:p>
          <a:p xmlns:a="http://schemas.openxmlformats.org/drawingml/2006/main">
            <a:pPr algn="l">
              <a:defRPr sz="2025" b="0">
                <a:solidFill>
                  <a:srgbClr val="004B36"/>
                </a:solidFill>
              </a:defRPr>
            </a:pPr>
            <a:r>
              <a:rPr sz="2025" b="0">
                <a:solidFill>
                  <a:srgbClr val="004B36"/>
                </a:solidFill>
              </a:rPr>
              <a:t>her left leg.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3CC93857-EB1C-481A-B001-EC28275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150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22630"/>
                </a:solidFill>
              </a:defRPr>
            </a:pPr>
            <a:r>
              <a:rPr sz="1725" b="1">
                <a:solidFill>
                  <a:srgbClr val="D22630"/>
                </a:solidFill>
              </a:rPr>
              <a:t>BRAVE  •  DID NOT GIVE UP</a:t>
            </a:r>
          </a:p>
        </p:txBody>
      </p:sp>
      <p:sp>
        <p:nvSpPr>
          <p:cNvPr id="9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163968CD-1BF5-46D6-9014-869F8CE8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36E01FFD-3726-4CD5-B084-1DCFF7DD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63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571EBB-DD99-4236-9173-E447E7C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4B36"/>
                </a:solidFill>
              </a:defRPr>
            </a:pPr>
            <a:r>
              <a:rPr sz="1050" b="1">
                <a:solidFill>
                  <a:srgbClr val="004B3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1206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285f56e4f43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ark-overlay">
            <a:extLst xmlns:a="http://schemas.openxmlformats.org/drawingml/2006/main">
              <a:ext uri="{FF2B5EF4-FFF2-40B4-BE49-F238E27FC236}">
                <a16:creationId xmlns:a16="http://schemas.microsoft.com/office/drawing/2014/main" id="{E7994BA3-42D3-486D-BB7C-6C96314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2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d64d63ff64948"/>
          <a:stretch xmlns:a="http://schemas.openxmlformats.org/drawingml/2006/main"/>
        </p:blipFill>
        <p:spPr>
          <a:xfrm xmlns:a="http://schemas.openxmlformats.org/drawingml/2006/main">
            <a:off x="657225" y="400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school-name">
            <a:extLst xmlns:a="http://schemas.openxmlformats.org/drawingml/2006/main">
              <a:ext uri="{FF2B5EF4-FFF2-40B4-BE49-F238E27FC236}">
                <a16:creationId xmlns:a16="http://schemas.microsoft.com/office/drawing/2014/main" id="{F41B33FF-E9FA-4841-8FC5-8A75104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PANORAMA PRIMARY SCHOOL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D670C2-536B-439B-8543-124577C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334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She chose to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start again.</a:t>
            </a:r>
          </a:p>
        </p:txBody>
      </p:sp>
      <p:sp>
        <p:nvSpPr>
          <p:cNvPr id="6" name="message">
            <a:extLst xmlns:a="http://schemas.openxmlformats.org/drawingml/2006/main">
              <a:ext uri="{FF2B5EF4-FFF2-40B4-BE49-F238E27FC236}">
                <a16:creationId xmlns:a16="http://schemas.microsoft.com/office/drawing/2014/main" id="{B4D0C1BE-94A2-4E3A-BC63-B5E5BE11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8E8"/>
                </a:solidFill>
              </a:defRPr>
            </a:pPr>
            <a:r>
              <a:rPr sz="2025" b="0">
                <a:solidFill>
                  <a:srgbClr val="FFF8E8"/>
                </a:solidFill>
              </a:rPr>
              <a:t>She worked hard every day</a:t>
            </a:r>
          </a:p>
          <a:p xmlns:a="http://schemas.openxmlformats.org/drawingml/2006/main">
            <a:pPr algn="l">
              <a:defRPr sz="2025" b="0">
                <a:solidFill>
                  <a:srgbClr val="FFF8E8"/>
                </a:solidFill>
              </a:defRPr>
            </a:pPr>
            <a:r>
              <a:rPr sz="2025" b="0">
                <a:solidFill>
                  <a:srgbClr val="FFF8E8"/>
                </a:solidFill>
              </a:rPr>
              <a:t>and returned to the pool.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25AB7196-E8C7-458E-8FE9-BCF6FA6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9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81C"/>
                </a:solidFill>
              </a:defRPr>
            </a:pPr>
            <a:r>
              <a:rPr sz="1575" b="1">
                <a:solidFill>
                  <a:srgbClr val="FFB81C"/>
                </a:solidFill>
              </a:rPr>
              <a:t>COURAGE IN ACTION</a:t>
            </a:r>
          </a:p>
        </p:txBody>
      </p:sp>
      <p:sp>
        <p:nvSpPr>
          <p:cNvPr id="8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04EF8416-8B24-448F-B1DE-8115E96B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F7FCA5C3-8914-40FB-9039-4F69C29E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544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D680A9-8701-424B-BE45-5A7828C3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2927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a8498a89f4ebc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blend">
            <a:extLst xmlns:a="http://schemas.openxmlformats.org/drawingml/2006/main">
              <a:ext uri="{FF2B5EF4-FFF2-40B4-BE49-F238E27FC236}">
                <a16:creationId xmlns:a16="http://schemas.microsoft.com/office/drawing/2014/main" id="{1630A29D-F4BC-41CB-BABA-CD72E15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36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8d0865b5f4656"/>
          <a:stretch xmlns:a="http://schemas.openxmlformats.org/drawingml/2006/main"/>
        </p:blipFill>
        <p:spPr>
          <a:xfrm xmlns:a="http://schemas.openxmlformats.org/drawingml/2006/main">
            <a:off x="657225" y="400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school-name">
            <a:extLst xmlns:a="http://schemas.openxmlformats.org/drawingml/2006/main">
              <a:ext uri="{FF2B5EF4-FFF2-40B4-BE49-F238E27FC236}">
                <a16:creationId xmlns:a16="http://schemas.microsoft.com/office/drawing/2014/main" id="{0CD055E0-D0D6-4EF2-A0FF-AF3BC3E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PANORAMA PRIMARY SCHOOL</a:t>
            </a:r>
          </a:p>
        </p:txBody>
      </p:sp>
      <p:sp>
        <p:nvSpPr>
          <p:cNvPr id="5" name="year">
            <a:extLst xmlns:a="http://schemas.openxmlformats.org/drawingml/2006/main">
              <a:ext uri="{FF2B5EF4-FFF2-40B4-BE49-F238E27FC236}">
                <a16:creationId xmlns:a16="http://schemas.microsoft.com/office/drawing/2014/main" id="{E3A64FD5-3460-468E-9DB8-7C574B42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FFB81C"/>
                </a:solidFill>
              </a:defRPr>
            </a:pPr>
            <a:r>
              <a:rPr sz="7950" b="1">
                <a:solidFill>
                  <a:srgbClr val="FFB81C"/>
                </a:solidFill>
              </a:rPr>
              <a:t>2008</a:t>
            </a:r>
          </a:p>
        </p:txBody>
      </p:sp>
      <p:sp>
        <p:nvSpPr>
          <p:cNvPr id="6" name="event">
            <a:extLst xmlns:a="http://schemas.openxmlformats.org/drawingml/2006/main">
              <a:ext uri="{FF2B5EF4-FFF2-40B4-BE49-F238E27FC236}">
                <a16:creationId xmlns:a16="http://schemas.microsoft.com/office/drawing/2014/main" id="{6BB67602-6A70-4534-B143-D5242888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OLYMPIC GAMES</a:t>
            </a:r>
          </a:p>
        </p:txBody>
      </p:sp>
      <p:sp>
        <p:nvSpPr>
          <p:cNvPr id="7" name="place">
            <a:extLst xmlns:a="http://schemas.openxmlformats.org/drawingml/2006/main">
              <a:ext uri="{FF2B5EF4-FFF2-40B4-BE49-F238E27FC236}">
                <a16:creationId xmlns:a16="http://schemas.microsoft.com/office/drawing/2014/main" id="{567BBE8E-36CB-48C0-9CC7-B727CAC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9D2C8"/>
                </a:solidFill>
              </a:defRPr>
            </a:pPr>
            <a:r>
              <a:rPr sz="1875" b="1">
                <a:solidFill>
                  <a:srgbClr val="69D2C8"/>
                </a:solidFill>
              </a:rPr>
              <a:t>BEIJING</a:t>
            </a:r>
          </a:p>
        </p:txBody>
      </p:sp>
      <p:sp>
        <p:nvSpPr>
          <p:cNvPr id="8" name="message">
            <a:extLst xmlns:a="http://schemas.openxmlformats.org/drawingml/2006/main">
              <a:ext uri="{FF2B5EF4-FFF2-40B4-BE49-F238E27FC236}">
                <a16:creationId xmlns:a16="http://schemas.microsoft.com/office/drawing/2014/main" id="{171BE312-9BD0-4033-9872-D7E9B8D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8E8"/>
                </a:solidFill>
              </a:defRPr>
            </a:pPr>
            <a:r>
              <a:rPr sz="2925" b="1">
                <a:solidFill>
                  <a:srgbClr val="FFF8E8"/>
                </a:solidFill>
              </a:rPr>
              <a:t>She represented</a:t>
            </a:r>
          </a:p>
          <a:p xmlns:a="http://schemas.openxmlformats.org/drawingml/2006/main">
            <a:pPr algn="l">
              <a:defRPr sz="2925" b="1">
                <a:solidFill>
                  <a:srgbClr val="FFF8E8"/>
                </a:solidFill>
              </a:defRPr>
            </a:pPr>
            <a:r>
              <a:rPr sz="2925" b="1">
                <a:solidFill>
                  <a:srgbClr val="FFF8E8"/>
                </a:solidFill>
              </a:rPr>
              <a:t>South Africa.</a:t>
            </a:r>
          </a:p>
        </p:txBody>
      </p:sp>
      <p:sp>
        <p:nvSpPr>
          <p:cNvPr id="9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C2201EF7-E3E2-4F31-B693-BC0660E7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76D7E37F-AEB1-4D80-B499-4B48487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726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10B370-46AC-40E6-8753-1EA3AF84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8795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0437f6ed441c0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hoto-blend">
            <a:extLst xmlns:a="http://schemas.openxmlformats.org/drawingml/2006/main">
              <a:ext uri="{FF2B5EF4-FFF2-40B4-BE49-F238E27FC236}">
                <a16:creationId xmlns:a16="http://schemas.microsoft.com/office/drawing/2014/main" id="{111A2A1F-6AE8-4389-94AA-F4F461B8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66f978d1341a4"/>
          <a:stretch xmlns:a="http://schemas.openxmlformats.org/drawingml/2006/main"/>
        </p:blipFill>
        <p:spPr>
          <a:xfrm xmlns:a="http://schemas.openxmlformats.org/drawingml/2006/main">
            <a:off x="657225" y="400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school-name">
            <a:extLst xmlns:a="http://schemas.openxmlformats.org/drawingml/2006/main">
              <a:ext uri="{FF2B5EF4-FFF2-40B4-BE49-F238E27FC236}">
                <a16:creationId xmlns:a16="http://schemas.microsoft.com/office/drawing/2014/main" id="{5BD180F9-A0F3-47FD-A5F9-2B91B714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4B36"/>
                </a:solidFill>
              </a:defRPr>
            </a:pPr>
            <a:r>
              <a:rPr sz="1125" b="1">
                <a:solidFill>
                  <a:srgbClr val="004B36"/>
                </a:solidFill>
              </a:rPr>
              <a:t>PANORAMA PRIMARY SCHOOL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8D72B2-9205-463B-B235-C5BF483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004B36"/>
                </a:solidFill>
              </a:defRPr>
            </a:pPr>
            <a:r>
              <a:rPr sz="3825" b="1">
                <a:solidFill>
                  <a:srgbClr val="004B36"/>
                </a:solidFill>
              </a:rPr>
              <a:t>Why she is</a:t>
            </a:r>
          </a:p>
          <a:p xmlns:a="http://schemas.openxmlformats.org/drawingml/2006/main">
            <a:pPr algn="l">
              <a:defRPr sz="3825" b="1">
                <a:solidFill>
                  <a:srgbClr val="004B36"/>
                </a:solidFill>
              </a:defRPr>
            </a:pPr>
            <a:r>
              <a:rPr sz="3825" b="1">
                <a:solidFill>
                  <a:srgbClr val="004B36"/>
                </a:solidFill>
              </a:rPr>
              <a:t>my hero</a:t>
            </a:r>
          </a:p>
        </p:txBody>
      </p:sp>
      <p:sp>
        <p:nvSpPr>
          <p:cNvPr id="6" name="reason-one">
            <a:extLst xmlns:a="http://schemas.openxmlformats.org/drawingml/2006/main">
              <a:ext uri="{FF2B5EF4-FFF2-40B4-BE49-F238E27FC236}">
                <a16:creationId xmlns:a16="http://schemas.microsoft.com/office/drawing/2014/main" id="{01D4CC29-7D22-420F-BA33-69794A9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1D"/>
                </a:solidFill>
              </a:defRPr>
            </a:pPr>
            <a:r>
              <a:rPr sz="2025" b="0">
                <a:solidFill>
                  <a:srgbClr val="10231D"/>
                </a:solidFill>
              </a:rPr>
              <a:t>She was a great swimmer.</a:t>
            </a:r>
          </a:p>
        </p:txBody>
      </p:sp>
      <p:sp>
        <p:nvSpPr>
          <p:cNvPr id="7" name="gold-rule">
            <a:extLst xmlns:a="http://schemas.openxmlformats.org/drawingml/2006/main">
              <a:ext uri="{FF2B5EF4-FFF2-40B4-BE49-F238E27FC236}">
                <a16:creationId xmlns:a16="http://schemas.microsoft.com/office/drawing/2014/main" id="{CBF3F4C8-A66F-4383-A7DC-91016CD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ason-two">
            <a:extLst xmlns:a="http://schemas.openxmlformats.org/drawingml/2006/main">
              <a:ext uri="{FF2B5EF4-FFF2-40B4-BE49-F238E27FC236}">
                <a16:creationId xmlns:a16="http://schemas.microsoft.com/office/drawing/2014/main" id="{A6151901-B1F0-4D18-90FF-16D63A04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957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22630"/>
                </a:solidFill>
              </a:defRPr>
            </a:pPr>
            <a:r>
              <a:rPr sz="2250" b="1">
                <a:solidFill>
                  <a:srgbClr val="D22630"/>
                </a:solidFill>
              </a:rPr>
              <a:t>Most importantly,</a:t>
            </a:r>
          </a:p>
          <a:p xmlns:a="http://schemas.openxmlformats.org/drawingml/2006/main">
            <a:pPr algn="l">
              <a:defRPr sz="2250" b="1">
                <a:solidFill>
                  <a:srgbClr val="D22630"/>
                </a:solidFill>
              </a:defRPr>
            </a:pPr>
            <a:r>
              <a:rPr sz="2250" b="1">
                <a:solidFill>
                  <a:srgbClr val="D22630"/>
                </a:solidFill>
              </a:rPr>
              <a:t>she never gave up.</a:t>
            </a:r>
          </a:p>
        </p:txBody>
      </p:sp>
      <p:sp>
        <p:nvSpPr>
          <p:cNvPr id="9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7120C9B4-407E-433A-B2BE-CF488A87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CFF2CD49-B984-4786-AD8C-CC8ABEC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908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FD6E64-3E35-4237-AE92-9931FC2D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4B36"/>
                </a:solidFill>
              </a:defRPr>
            </a:pPr>
            <a:r>
              <a:rPr sz="1050" b="1">
                <a:solidFill>
                  <a:srgbClr val="004B3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244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283d15a3a4c25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723900"/>
            <a:ext cx="3333750" cy="4667250"/>
          </a:xfrm>
          <a:prstGeom xmlns:a="http://schemas.openxmlformats.org/drawingml/2006/main" prst="roundRect">
            <a:avLst>
              <a:gd name="adj" fmla="val 6857"/>
            </a:avLst>
          </a:prstGeom>
        </p:spPr>
      </p:pic>
      <p:sp>
        <p:nvSpPr>
          <p:cNvPr id="2" name="photo-shadow">
            <a:extLst xmlns:a="http://schemas.openxmlformats.org/drawingml/2006/main">
              <a:ext uri="{FF2B5EF4-FFF2-40B4-BE49-F238E27FC236}">
                <a16:creationId xmlns:a16="http://schemas.microsoft.com/office/drawing/2014/main" id="{40B65983-B360-4FEB-BC79-CA55BE1D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"/>
            <a:ext cx="3333750" cy="46672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c44459eca4d87"/>
          <a:stretch xmlns:a="http://schemas.openxmlformats.org/drawingml/2006/main"/>
        </p:blipFill>
        <p:spPr>
          <a:xfrm xmlns:a="http://schemas.openxmlformats.org/drawingml/2006/main">
            <a:off x="657225" y="400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school-name">
            <a:extLst xmlns:a="http://schemas.openxmlformats.org/drawingml/2006/main">
              <a:ext uri="{FF2B5EF4-FFF2-40B4-BE49-F238E27FC236}">
                <a16:creationId xmlns:a16="http://schemas.microsoft.com/office/drawing/2014/main" id="{BAC8301D-B8FC-44C9-AE72-ABD476E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PANORAMA PRIMARY SCHOOL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3CAD2D-B8AA-4B1A-9196-1511862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Natalie taught me to…</a:t>
            </a:r>
          </a:p>
        </p:txBody>
      </p:sp>
      <p:sp>
        <p:nvSpPr>
          <p:cNvPr id="6" name="lesson-one">
            <a:extLst xmlns:a="http://schemas.openxmlformats.org/drawingml/2006/main">
              <a:ext uri="{FF2B5EF4-FFF2-40B4-BE49-F238E27FC236}">
                <a16:creationId xmlns:a16="http://schemas.microsoft.com/office/drawing/2014/main" id="{1C03412E-0461-4561-A347-82C9AF0F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1C"/>
                </a:solidFill>
              </a:defRPr>
            </a:pPr>
            <a:r>
              <a:rPr sz="2250" b="1">
                <a:solidFill>
                  <a:srgbClr val="FFB81C"/>
                </a:solidFill>
              </a:rPr>
              <a:t>KEEP TRYING</a:t>
            </a:r>
          </a:p>
        </p:txBody>
      </p:sp>
      <p:sp>
        <p:nvSpPr>
          <p:cNvPr id="7" name="lesson-two">
            <a:extLst xmlns:a="http://schemas.openxmlformats.org/drawingml/2006/main">
              <a:ext uri="{FF2B5EF4-FFF2-40B4-BE49-F238E27FC236}">
                <a16:creationId xmlns:a16="http://schemas.microsoft.com/office/drawing/2014/main" id="{062B63AD-336B-42A2-B9C2-D2D2DAF2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9D2C8"/>
                </a:solidFill>
              </a:defRPr>
            </a:pPr>
            <a:r>
              <a:rPr sz="2250" b="1">
                <a:solidFill>
                  <a:srgbClr val="69D2C8"/>
                </a:solidFill>
              </a:rPr>
              <a:t>BELIEVE IN MYSELF</a:t>
            </a:r>
          </a:p>
        </p:txBody>
      </p:sp>
      <p:sp>
        <p:nvSpPr>
          <p:cNvPr id="8" name="lesson-three">
            <a:extLst xmlns:a="http://schemas.openxmlformats.org/drawingml/2006/main">
              <a:ext uri="{FF2B5EF4-FFF2-40B4-BE49-F238E27FC236}">
                <a16:creationId xmlns:a16="http://schemas.microsoft.com/office/drawing/2014/main" id="{D89BDF36-7C78-4EFA-873C-4EB2A6F6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1C"/>
                </a:solidFill>
              </a:defRPr>
            </a:pPr>
            <a:r>
              <a:rPr sz="2250" b="1">
                <a:solidFill>
                  <a:srgbClr val="FFB81C"/>
                </a:solidFill>
              </a:rPr>
              <a:t>WORK HARD</a:t>
            </a:r>
          </a:p>
        </p:txBody>
      </p:sp>
      <p:sp>
        <p:nvSpPr>
          <p:cNvPr id="9" name="lesson-four">
            <a:extLst xmlns:a="http://schemas.openxmlformats.org/drawingml/2006/main">
              <a:ext uri="{FF2B5EF4-FFF2-40B4-BE49-F238E27FC236}">
                <a16:creationId xmlns:a16="http://schemas.microsoft.com/office/drawing/2014/main" id="{83E7FB4E-7E39-48E1-8504-E41BA1C5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NEVER GIVE UP</a:t>
            </a:r>
          </a:p>
        </p:txBody>
      </p:sp>
      <p:sp>
        <p:nvSpPr>
          <p:cNvPr id="10" name="quote">
            <a:extLst xmlns:a="http://schemas.openxmlformats.org/drawingml/2006/main">
              <a:ext uri="{FF2B5EF4-FFF2-40B4-BE49-F238E27FC236}">
                <a16:creationId xmlns:a16="http://schemas.microsoft.com/office/drawing/2014/main" id="{328B0AEF-7801-44EA-AA5F-A3FB5E9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8E8"/>
                </a:solidFill>
              </a:defRPr>
            </a:pPr>
            <a:r>
              <a:rPr sz="1800" b="0">
                <a:solidFill>
                  <a:srgbClr val="FFF8E8"/>
                </a:solidFill>
              </a:rPr>
              <a:t>“You inspire me to never give up on my dreams.”</a:t>
            </a:r>
          </a:p>
        </p:txBody>
      </p:sp>
      <p:sp>
        <p:nvSpPr>
          <p:cNvPr id="11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3A1025D0-22CC-4488-8032-8A1C7681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339EB78A-6D94-4F2F-8577-85E63A75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40314E-28FE-44D1-A34E-D492620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00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2991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2026-09-01T17:05:31.8800000Z</dcterms:created>
  <dcterms:modified xsi:type="dcterms:W3CDTF">2026-09-01T17:05:31.8800000Z</dcterms:modified>
</coreProperties>
</file>