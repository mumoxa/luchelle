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day everyone. My South African hero is Natalie du Toit.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Natalie is a famous South African swimmer. She was born in Cape Town and loved swimming from a young 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Natalie was 17 years old, she was involved in a serious scooter accident. Doctors had to amputate her left leg. That could have stopped her from following her dreams. However, she was brave and did not give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Natalie worked hard every day and started swimming again. She became a champion Paralympic swimmer. She even competed against swimmers without disabilities.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Natalie represented South Africa at the 2008 Olympic Games in Beijing. She competed in the 10-kilometre open-water race and showed that courage can take you further than anyone expects.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chose Natalie du Toit as my South African hero because she was a great swimmer, but more importantly, she never gave up on her dream. Her story makes me feel proud. She showed the world what a South African can achieve with courage and hard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Natalie taught me that when something difficult happens, I must keep trying, believe in myself, work hard, and never give up. If Natalie were standing in front of me today, I would say: Natalie, you are a great swimmer, and you inspire me to never give up on my dreams. Thank you for listening.</a:t>
            </a:r>
          </a:p>
          <a:p/>
          <a:p>
            <a:r>
              <a:t>SOURCES (facts verified 1 September 2026): Encyclopaedia Britannica - Natalie du Toit (britannica.com/biography/Natalie-du-Toit); ESPN/AP, 3 May 2008 (espn.com/olympics/swimming/news/story?id=3379722); The Independent - 'If I can achieve a dream, then anyone can'; Paralympic.org - The day Natalie du Toit made Olympic history. IMAGE CREDITS: Beijing 2008 medal photo - Heath Campanaro / Australian Paralympic Committee, via Wikimedia Commons, CC BY-SA 3.0; swimming photo via Commonwealth Sport; Cape Town training photo and Laureus photo via swimhistory.co.za; school crest - Panorama Primary School (panoramaps.co.za); photographs of Luchelle supplied by the Crafford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jpg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0" y="-2377440"/>
            <a:ext cx="6766560" cy="6766560"/>
          </a:xfrm>
          <a:prstGeom prst="ellipse">
            <a:avLst/>
          </a:prstGeom>
          <a:solidFill>
            <a:srgbClr val="007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182880"/>
          </a:xfrm>
          <a:prstGeom prst="rect">
            <a:avLst/>
          </a:prstGeom>
          <a:solidFill>
            <a:srgbClr val="4FC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2A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794500"/>
            <a:ext cx="1741670" cy="635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37215" y="6382512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 spc="200">
                <a:solidFill>
                  <a:srgbClr val="FFB81C"/>
                </a:solidFill>
                <a:latin typeface="Arial"/>
              </a:rPr>
              <a:t>01</a:t>
            </a:r>
            <a:r>
              <a:rPr sz="1200" b="1" i="0" spc="200">
                <a:solidFill>
                  <a:srgbClr val="FFFFFF"/>
                </a:solidFill>
                <a:latin typeface="Arial"/>
              </a:rPr>
              <a:t> / 07</a:t>
            </a:r>
          </a:p>
        </p:txBody>
      </p:sp>
      <p:pic>
        <p:nvPicPr>
          <p:cNvPr id="10" name="Picture 9" descr="panorama-c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65760"/>
            <a:ext cx="658368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25880" y="56692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40">
                <a:solidFill>
                  <a:srgbClr val="FFFFFF"/>
                </a:solidFill>
                <a:latin typeface="Arial"/>
              </a:rPr>
              <a:t>PANORAMA PRIMARY SCHOOL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572768"/>
            <a:ext cx="60350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300">
                <a:solidFill>
                  <a:srgbClr val="FFB81C"/>
                </a:solidFill>
                <a:latin typeface="Arial"/>
              </a:rPr>
              <a:t>MY SOUTH AFRICAN HERO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1956816"/>
            <a:ext cx="6583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8800" b="1" i="0">
                <a:solidFill>
                  <a:srgbClr val="FFFFFF"/>
                </a:solidFill>
                <a:latin typeface="Arial"/>
              </a:rPr>
              <a:t>Natalie</a:t>
            </a:r>
          </a:p>
          <a:p>
            <a:pPr algn="l">
              <a:lnSpc>
                <a:spcPct val="94000"/>
              </a:lnSpc>
            </a:pPr>
            <a:r>
              <a:rPr sz="8800" b="1" i="0">
                <a:solidFill>
                  <a:srgbClr val="FFFFFF"/>
                </a:solidFill>
                <a:latin typeface="Arial"/>
              </a:rPr>
              <a:t>du Toit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4553712"/>
            <a:ext cx="1051560" cy="68580"/>
          </a:xfrm>
          <a:prstGeom prst="round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828032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Presented by </a:t>
            </a:r>
            <a:r>
              <a:rPr sz="2400" b="1" i="0">
                <a:solidFill>
                  <a:srgbClr val="FFB81C"/>
                </a:solidFill>
                <a:latin typeface="Arial"/>
              </a:rPr>
              <a:t>Luchelle Crafford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358384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260">
                <a:solidFill>
                  <a:srgbClr val="4FC3D0"/>
                </a:solidFill>
                <a:latin typeface="Arial"/>
              </a:rPr>
              <a:t>GRADE 3A1  •  PANORAMA PRIMARY SCHOOL</a:t>
            </a:r>
          </a:p>
        </p:txBody>
      </p:sp>
      <p:pic>
        <p:nvPicPr>
          <p:cNvPr id="17" name="Picture 16" descr="luchelle-cov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051560"/>
            <a:ext cx="2788920" cy="4297680"/>
          </a:xfrm>
          <a:prstGeom prst="roundRect">
            <a:avLst>
              <a:gd name="adj" fmla="val 9000"/>
            </a:avLst>
          </a:prstGeom>
          <a:ln w="88900">
            <a:solidFill>
              <a:srgbClr val="FFB81C"/>
            </a:solidFill>
          </a:ln>
          <a:effectLst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2651760"/>
            <a:ext cx="5852160" cy="5852160"/>
          </a:xfrm>
          <a:prstGeom prst="ellipse">
            <a:avLst/>
          </a:prstGeom>
          <a:solidFill>
            <a:srgbClr val="007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300">
                <a:solidFill>
                  <a:srgbClr val="FFB81C"/>
                </a:solidFill>
                <a:latin typeface="Arial"/>
              </a:rPr>
              <a:t>MEET MY HERO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463040"/>
            <a:ext cx="6035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A swimmer from</a:t>
            </a:r>
          </a:p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Cape Town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3721607"/>
            <a:ext cx="384048" cy="384048"/>
          </a:xfrm>
          <a:prstGeom prst="ellipse">
            <a:avLst/>
          </a:prstGeom>
          <a:solidFill>
            <a:srgbClr val="007749"/>
          </a:solidFill>
          <a:ln w="22225">
            <a:solidFill>
              <a:srgbClr val="FFB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500" b="1">
                <a:solidFill>
                  <a:srgbClr val="FFB81C"/>
                </a:solidFill>
                <a:latin typeface="Arial"/>
              </a:rPr>
              <a:t>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730752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6E5"/>
                </a:solidFill>
                <a:latin typeface="Arial"/>
              </a:rPr>
              <a:t>Born in Cape Town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379975"/>
            <a:ext cx="384048" cy="384048"/>
          </a:xfrm>
          <a:prstGeom prst="ellipse">
            <a:avLst/>
          </a:prstGeom>
          <a:solidFill>
            <a:srgbClr val="007749"/>
          </a:solidFill>
          <a:ln w="22225">
            <a:solidFill>
              <a:srgbClr val="FFB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500" b="1">
                <a:solidFill>
                  <a:srgbClr val="FFB81C"/>
                </a:solidFill>
                <a:latin typeface="Arial"/>
              </a:rPr>
              <a:t>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389120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6E5"/>
                </a:solidFill>
                <a:latin typeface="Arial"/>
              </a:rPr>
              <a:t>Loved swimming from a young age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5038343"/>
            <a:ext cx="384048" cy="384048"/>
          </a:xfrm>
          <a:prstGeom prst="ellipse">
            <a:avLst/>
          </a:prstGeom>
          <a:solidFill>
            <a:srgbClr val="007749"/>
          </a:solidFill>
          <a:ln w="22225">
            <a:solidFill>
              <a:srgbClr val="FFB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500" b="1">
                <a:solidFill>
                  <a:srgbClr val="FFB81C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5047488"/>
            <a:ext cx="5669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6E5"/>
                </a:solidFill>
                <a:latin typeface="Arial"/>
              </a:rPr>
              <a:t>Became a famous South African swimmer</a:t>
            </a:r>
          </a:p>
        </p:txBody>
      </p:sp>
      <p:pic>
        <p:nvPicPr>
          <p:cNvPr id="12" name="Picture 11" descr="natalie-capetow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828800"/>
            <a:ext cx="4206240" cy="2743200"/>
          </a:xfrm>
          <a:prstGeom prst="roundRect">
            <a:avLst>
              <a:gd name="adj" fmla="val 9000"/>
            </a:avLst>
          </a:prstGeom>
          <a:ln w="63500">
            <a:solidFill>
              <a:srgbClr val="FFB81C"/>
            </a:solidFill>
          </a:ln>
          <a:effectLst/>
        </p:spPr>
      </p:pic>
      <p:sp>
        <p:nvSpPr>
          <p:cNvPr id="13" name="TextBox 12"/>
          <p:cNvSpPr txBox="1"/>
          <p:nvPr/>
        </p:nvSpPr>
        <p:spPr>
          <a:xfrm>
            <a:off x="7269480" y="4736592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 spc="150">
                <a:solidFill>
                  <a:srgbClr val="FFB81C"/>
                </a:solidFill>
                <a:latin typeface="Arial"/>
              </a:rPr>
              <a:t>TRAINING IN CAPE TOWN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2A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794500"/>
            <a:ext cx="3483341" cy="635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37215" y="6382512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 spc="200">
                <a:solidFill>
                  <a:srgbClr val="FFB81C"/>
                </a:solidFill>
                <a:latin typeface="Arial"/>
              </a:rPr>
              <a:t>02</a:t>
            </a:r>
            <a:r>
              <a:rPr sz="1200" b="1" i="0" spc="200">
                <a:solidFill>
                  <a:srgbClr val="FFFFFF"/>
                </a:solidFill>
                <a:latin typeface="Arial"/>
              </a:rPr>
              <a:t> / 07</a:t>
            </a:r>
          </a:p>
        </p:txBody>
      </p:sp>
      <p:pic>
        <p:nvPicPr>
          <p:cNvPr id="17" name="Picture 16" descr="panorama-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135" y="347472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77639" cy="6858000"/>
          </a:xfrm>
          <a:prstGeom prst="rect">
            <a:avLst/>
          </a:prstGeom>
          <a:solidFill>
            <a:srgbClr val="004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0" b="1" i="0">
                <a:solidFill>
                  <a:srgbClr val="FFB81C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977639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 spc="400">
                <a:solidFill>
                  <a:srgbClr val="FFFFFF"/>
                </a:solidFill>
                <a:latin typeface="Arial"/>
              </a:rPr>
              <a:t>YEARS OLD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4754880"/>
            <a:ext cx="1371600" cy="64008"/>
          </a:xfrm>
          <a:prstGeom prst="roundRect">
            <a:avLst/>
          </a:prstGeom>
          <a:solidFill>
            <a:srgbClr val="4FC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4840" y="1417320"/>
            <a:ext cx="4297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500" b="1" i="0">
                <a:solidFill>
                  <a:srgbClr val="004B36"/>
                </a:solidFill>
                <a:latin typeface="Arial"/>
              </a:rPr>
              <a:t>A serious scooter accident changed her life.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429000"/>
            <a:ext cx="41605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007749"/>
                </a:solidFill>
                <a:latin typeface="Arial"/>
              </a:rPr>
              <a:t>Doctors had to amputate her left leg.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4526280"/>
            <a:ext cx="1554480" cy="530352"/>
          </a:xfrm>
          <a:prstGeom prst="roundRect">
            <a:avLst/>
          </a:prstGeom>
          <a:solidFill>
            <a:srgbClr val="D22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spc="150">
                <a:solidFill>
                  <a:srgbClr val="FFFFFF"/>
                </a:solidFill>
                <a:latin typeface="Arial"/>
              </a:rPr>
              <a:t>BRAVE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526280"/>
            <a:ext cx="2606040" cy="530352"/>
          </a:xfrm>
          <a:prstGeom prst="roundRect">
            <a:avLst/>
          </a:prstGeom>
          <a:solidFill>
            <a:srgbClr val="007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spc="150">
                <a:solidFill>
                  <a:srgbClr val="FFFFFF"/>
                </a:solidFill>
                <a:latin typeface="Arial"/>
              </a:rPr>
              <a:t>DID NOT GIVE UP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1600200"/>
            <a:ext cx="2743200" cy="4114800"/>
          </a:xfrm>
          <a:prstGeom prst="round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natalie-positi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0848" y="1399032"/>
            <a:ext cx="2743200" cy="4114800"/>
          </a:xfrm>
          <a:effectLst/>
          <a:prstGeom prst="roundRect">
            <a:avLst>
              <a:gd name="adj" fmla="val 9000"/>
            </a:avLst>
          </a:prstGeom>
        </p:spPr>
      </p:pic>
      <p:sp>
        <p:nvSpPr>
          <p:cNvPr id="13" name="TextBox 12"/>
          <p:cNvSpPr txBox="1"/>
          <p:nvPr/>
        </p:nvSpPr>
        <p:spPr>
          <a:xfrm>
            <a:off x="8869680" y="5870448"/>
            <a:ext cx="29443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 spc="100">
                <a:solidFill>
                  <a:srgbClr val="004B36"/>
                </a:solidFill>
                <a:latin typeface="Arial"/>
              </a:rPr>
              <a:t>Natalie with her Laureus award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E3D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6794500"/>
            <a:ext cx="5225012" cy="635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37215" y="6382512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 spc="200">
                <a:solidFill>
                  <a:srgbClr val="FFB81C"/>
                </a:solidFill>
                <a:latin typeface="Arial"/>
              </a:rPr>
              <a:t>03</a:t>
            </a:r>
            <a:r>
              <a:rPr sz="1200" b="1" i="0" spc="200">
                <a:solidFill>
                  <a:srgbClr val="004B36"/>
                </a:solidFill>
                <a:latin typeface="Arial"/>
              </a:rPr>
              <a:t> / 07</a:t>
            </a:r>
          </a:p>
        </p:txBody>
      </p:sp>
      <p:pic>
        <p:nvPicPr>
          <p:cNvPr id="17" name="Picture 16" descr="panorama-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135" y="347472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talie-swimming-shad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783080"/>
            <a:ext cx="5486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 spc="300">
                <a:solidFill>
                  <a:srgbClr val="FFB81C"/>
                </a:solidFill>
                <a:latin typeface="Arial"/>
              </a:rPr>
              <a:t>COURAGE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194560"/>
            <a:ext cx="67665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400" b="1" i="0">
                <a:solidFill>
                  <a:srgbClr val="FFFFFF"/>
                </a:solidFill>
                <a:latin typeface="Arial"/>
              </a:rPr>
              <a:t>She chose to</a:t>
            </a:r>
          </a:p>
          <a:p>
            <a:pPr algn="l">
              <a:lnSpc>
                <a:spcPct val="98000"/>
              </a:lnSpc>
            </a:pPr>
            <a:r>
              <a:rPr sz="5400" b="1" i="0">
                <a:solidFill>
                  <a:srgbClr val="FFFFFF"/>
                </a:solidFill>
                <a:latin typeface="Arial"/>
              </a:rPr>
              <a:t>start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5852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FFFFFF"/>
                </a:solidFill>
                <a:latin typeface="Arial"/>
              </a:rPr>
              <a:t>She worked hard every day</a:t>
            </a:r>
          </a:p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FFFFFF"/>
                </a:solidFill>
                <a:latin typeface="Arial"/>
              </a:rPr>
              <a:t>and returned to the pool.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2A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94500"/>
            <a:ext cx="6966682" cy="635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37215" y="6382512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 spc="200">
                <a:solidFill>
                  <a:srgbClr val="FFB81C"/>
                </a:solidFill>
                <a:latin typeface="Arial"/>
              </a:rPr>
              <a:t>04</a:t>
            </a:r>
            <a:r>
              <a:rPr sz="1200" b="1" i="0" spc="200">
                <a:solidFill>
                  <a:srgbClr val="FFFFFF"/>
                </a:solidFill>
                <a:latin typeface="Arial"/>
              </a:rPr>
              <a:t> / 07</a:t>
            </a:r>
          </a:p>
        </p:txBody>
      </p:sp>
      <p:pic>
        <p:nvPicPr>
          <p:cNvPr id="9" name="Picture 8" descr="panorama-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135" y="347472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11680" y="4206240"/>
            <a:ext cx="5669280" cy="5669280"/>
          </a:xfrm>
          <a:prstGeom prst="ellipse">
            <a:avLst/>
          </a:prstGeom>
          <a:solidFill>
            <a:srgbClr val="007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5852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0" b="1" i="0">
                <a:solidFill>
                  <a:srgbClr val="FFB81C"/>
                </a:solidFill>
                <a:latin typeface="Arial"/>
              </a:rPr>
              <a:t>2008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6035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 spc="200">
                <a:solidFill>
                  <a:srgbClr val="FFFFFF"/>
                </a:solidFill>
                <a:latin typeface="Arial"/>
              </a:rPr>
              <a:t>OLYMPIC GAMES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204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 spc="600">
                <a:solidFill>
                  <a:srgbClr val="4FC3D0"/>
                </a:solidFill>
                <a:latin typeface="Arial"/>
              </a:rPr>
              <a:t>BEIJING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4206240"/>
            <a:ext cx="1051560" cy="68580"/>
          </a:xfrm>
          <a:prstGeom prst="round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6217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0">
                <a:solidFill>
                  <a:srgbClr val="FFFFFF"/>
                </a:solidFill>
                <a:latin typeface="Arial"/>
              </a:rPr>
              <a:t>She represented </a:t>
            </a:r>
          </a:p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FFB81C"/>
                </a:solidFill>
                <a:latin typeface="Arial"/>
              </a:rPr>
              <a:t>South Africa.</a:t>
            </a:r>
          </a:p>
        </p:txBody>
      </p:sp>
      <p:pic>
        <p:nvPicPr>
          <p:cNvPr id="9" name="Picture 8" descr="natalie-beij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234440"/>
            <a:ext cx="3108960" cy="3749039"/>
          </a:xfrm>
          <a:prstGeom prst="roundRect">
            <a:avLst>
              <a:gd name="adj" fmla="val 9000"/>
            </a:avLst>
          </a:prstGeom>
          <a:ln w="63500">
            <a:solidFill>
              <a:srgbClr val="FFB81C"/>
            </a:solidFill>
          </a:ln>
          <a:effectLst/>
        </p:spPr>
      </p:pic>
      <p:sp>
        <p:nvSpPr>
          <p:cNvPr id="10" name="TextBox 9"/>
          <p:cNvSpPr txBox="1"/>
          <p:nvPr/>
        </p:nvSpPr>
        <p:spPr>
          <a:xfrm>
            <a:off x="8366760" y="513892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 spc="150">
                <a:solidFill>
                  <a:srgbClr val="FFB81C"/>
                </a:solidFill>
                <a:latin typeface="Arial"/>
              </a:rPr>
              <a:t>BEIJING 2008  •  GOLD MEDAL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2A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794500"/>
            <a:ext cx="8708353" cy="635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37215" y="6382512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 spc="200">
                <a:solidFill>
                  <a:srgbClr val="FFB81C"/>
                </a:solidFill>
                <a:latin typeface="Arial"/>
              </a:rPr>
              <a:t>05</a:t>
            </a:r>
            <a:r>
              <a:rPr sz="1200" b="1" i="0" spc="200">
                <a:solidFill>
                  <a:srgbClr val="FFFFFF"/>
                </a:solidFill>
                <a:latin typeface="Arial"/>
              </a:rPr>
              <a:t> / 07</a:t>
            </a:r>
          </a:p>
        </p:txBody>
      </p:sp>
      <p:pic>
        <p:nvPicPr>
          <p:cNvPr id="14" name="Picture 13" descr="panorama-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135" y="347472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027103" y="0"/>
            <a:ext cx="164592" cy="6858000"/>
          </a:xfrm>
          <a:prstGeom prst="rect">
            <a:avLst/>
          </a:prstGeom>
          <a:solidFill>
            <a:srgbClr val="0077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371600"/>
            <a:ext cx="3063240" cy="4434840"/>
          </a:xfrm>
          <a:prstGeom prst="round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uchelle-med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1170432"/>
            <a:ext cx="3063240" cy="4434840"/>
          </a:xfrm>
          <a:effectLst/>
          <a:prstGeom prst="roundRect">
            <a:avLst>
              <a:gd name="adj" fmla="val 9000"/>
            </a:avLst>
          </a:prstGeom>
        </p:spPr>
      </p:pic>
      <p:sp>
        <p:nvSpPr>
          <p:cNvPr id="6" name="TextBox 5"/>
          <p:cNvSpPr txBox="1"/>
          <p:nvPr/>
        </p:nvSpPr>
        <p:spPr>
          <a:xfrm>
            <a:off x="685800" y="5961888"/>
            <a:ext cx="326440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 spc="100">
                <a:solidFill>
                  <a:srgbClr val="004B36"/>
                </a:solidFill>
                <a:latin typeface="Arial"/>
              </a:rPr>
              <a:t>Luchelle with her gymnastics medal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3716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 spc="250">
                <a:solidFill>
                  <a:srgbClr val="007749"/>
                </a:solidFill>
                <a:latin typeface="Arial"/>
              </a:rPr>
              <a:t>JUST LIKE MY HERO, I KEEP GOING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9744" y="1828800"/>
            <a:ext cx="658368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200" b="1" i="0">
                <a:solidFill>
                  <a:srgbClr val="004B36"/>
                </a:solidFill>
                <a:latin typeface="Arial"/>
              </a:rPr>
              <a:t>Why she is my hero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352044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0E241C"/>
                </a:solidFill>
                <a:latin typeface="Arial"/>
              </a:rPr>
              <a:t>She was a great swimmer.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01184" y="4224528"/>
            <a:ext cx="1051560" cy="68580"/>
          </a:xfrm>
          <a:prstGeom prst="round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4526280"/>
            <a:ext cx="6400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 i="0">
                <a:solidFill>
                  <a:srgbClr val="D22630"/>
                </a:solidFill>
                <a:latin typeface="Arial"/>
              </a:rPr>
              <a:t>Most importantly,</a:t>
            </a:r>
          </a:p>
          <a:p>
            <a:pPr algn="l">
              <a:lnSpc>
                <a:spcPct val="112000"/>
              </a:lnSpc>
            </a:pPr>
            <a:r>
              <a:rPr sz="3000" b="1" i="0">
                <a:solidFill>
                  <a:srgbClr val="D22630"/>
                </a:solidFill>
                <a:latin typeface="Arial"/>
              </a:rPr>
              <a:t>she never gave up.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E3D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794500"/>
            <a:ext cx="10450024" cy="635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37215" y="6382512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 spc="200">
                <a:solidFill>
                  <a:srgbClr val="FFB81C"/>
                </a:solidFill>
                <a:latin typeface="Arial"/>
              </a:rPr>
              <a:t>06</a:t>
            </a:r>
            <a:r>
              <a:rPr sz="1200" b="1" i="0" spc="200">
                <a:solidFill>
                  <a:srgbClr val="004B36"/>
                </a:solidFill>
                <a:latin typeface="Arial"/>
              </a:rPr>
              <a:t> / 07</a:t>
            </a:r>
          </a:p>
        </p:txBody>
      </p:sp>
      <p:pic>
        <p:nvPicPr>
          <p:cNvPr id="15" name="Picture 14" descr="panorama-c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135" y="347472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47104"/>
            <a:ext cx="12191695" cy="182880"/>
          </a:xfrm>
          <a:prstGeom prst="rect">
            <a:avLst/>
          </a:prstGeom>
          <a:solidFill>
            <a:srgbClr val="4FC3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2A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4500"/>
            <a:ext cx="12191695" cy="635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37215" y="6382512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 spc="200">
                <a:solidFill>
                  <a:srgbClr val="FFB81C"/>
                </a:solidFill>
                <a:latin typeface="Arial"/>
              </a:rPr>
              <a:t>07</a:t>
            </a:r>
            <a:r>
              <a:rPr sz="1200" b="1" i="0" spc="200">
                <a:solidFill>
                  <a:srgbClr val="FFFFFF"/>
                </a:solidFill>
                <a:latin typeface="Arial"/>
              </a:rPr>
              <a:t> / 07</a:t>
            </a:r>
          </a:p>
        </p:txBody>
      </p:sp>
      <p:pic>
        <p:nvPicPr>
          <p:cNvPr id="8" name="Picture 7" descr="panorama-c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65760"/>
            <a:ext cx="658368" cy="658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566928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40">
                <a:solidFill>
                  <a:srgbClr val="FFFFFF"/>
                </a:solidFill>
                <a:latin typeface="Arial"/>
              </a:rPr>
              <a:t>PANORAMA PRIMARY SCHOOL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417320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Natalie taught me to…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414016"/>
            <a:ext cx="384048" cy="384048"/>
          </a:xfrm>
          <a:prstGeom prst="ellipse">
            <a:avLst/>
          </a:prstGeom>
          <a:solidFill>
            <a:srgbClr val="007749"/>
          </a:solidFill>
          <a:ln w="22225">
            <a:solidFill>
              <a:srgbClr val="FFB8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500" b="1">
                <a:solidFill>
                  <a:srgbClr val="FFB81C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395728"/>
            <a:ext cx="6035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 spc="150">
                <a:solidFill>
                  <a:srgbClr val="FFB81C"/>
                </a:solidFill>
                <a:latin typeface="Arial"/>
              </a:rPr>
              <a:t>KEEP TRYING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3035808"/>
            <a:ext cx="384048" cy="384048"/>
          </a:xfrm>
          <a:prstGeom prst="ellipse">
            <a:avLst/>
          </a:prstGeom>
          <a:solidFill>
            <a:srgbClr val="007749"/>
          </a:solidFill>
          <a:ln w="22225">
            <a:solidFill>
              <a:srgbClr val="4FC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500" b="1">
                <a:solidFill>
                  <a:srgbClr val="4FC3D0"/>
                </a:solidFill>
                <a:latin typeface="Arial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017520"/>
            <a:ext cx="6035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 spc="150">
                <a:solidFill>
                  <a:srgbClr val="4FC3D0"/>
                </a:solidFill>
                <a:latin typeface="Arial"/>
              </a:rPr>
              <a:t>BELIEVE IN MYSELF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657600"/>
            <a:ext cx="384048" cy="384048"/>
          </a:xfrm>
          <a:prstGeom prst="ellipse">
            <a:avLst/>
          </a:prstGeom>
          <a:solidFill>
            <a:srgbClr val="007749"/>
          </a:solidFill>
          <a:ln w="22225">
            <a:solidFill>
              <a:srgbClr val="FFD2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500" b="1">
                <a:solidFill>
                  <a:srgbClr val="FFD25E"/>
                </a:solidFill>
                <a:latin typeface="Aria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639312"/>
            <a:ext cx="6035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 spc="150">
                <a:solidFill>
                  <a:srgbClr val="FFD25E"/>
                </a:solidFill>
                <a:latin typeface="Arial"/>
              </a:rPr>
              <a:t>WORK HARD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4279392"/>
            <a:ext cx="384048" cy="384048"/>
          </a:xfrm>
          <a:prstGeom prst="ellipse">
            <a:avLst/>
          </a:prstGeom>
          <a:solidFill>
            <a:srgbClr val="007749"/>
          </a:solidFill>
          <a:ln w="222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261104"/>
            <a:ext cx="6035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 spc="150">
                <a:solidFill>
                  <a:srgbClr val="FFFFFF"/>
                </a:solidFill>
                <a:latin typeface="Arial"/>
              </a:rPr>
              <a:t>NEVER GIVE 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" y="5074920"/>
            <a:ext cx="68580" cy="86868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5138928"/>
            <a:ext cx="5852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FFF6E5"/>
                </a:solidFill>
                <a:latin typeface="Arial"/>
              </a:rPr>
              <a:t>“You inspire me to never give up</a:t>
            </a:r>
          </a:p>
          <a:p>
            <a:pPr algn="l">
              <a:lnSpc>
                <a:spcPct val="120000"/>
              </a:lnSpc>
            </a:pPr>
            <a:r>
              <a:rPr sz="2000" b="0" i="1">
                <a:solidFill>
                  <a:srgbClr val="FFF6E5"/>
                </a:solidFill>
                <a:latin typeface="Arial"/>
              </a:rPr>
              <a:t>on my dreams.”</a:t>
            </a:r>
          </a:p>
        </p:txBody>
      </p:sp>
      <p:pic>
        <p:nvPicPr>
          <p:cNvPr id="21" name="Picture 20" descr="luchelle-schoo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0" y="1188720"/>
            <a:ext cx="3017520" cy="3922776"/>
          </a:xfrm>
          <a:prstGeom prst="roundRect">
            <a:avLst>
              <a:gd name="adj" fmla="val 9000"/>
            </a:avLst>
          </a:prstGeom>
          <a:ln w="88900">
            <a:solidFill>
              <a:srgbClr val="FFB81C"/>
            </a:solidFill>
          </a:ln>
          <a:effectLst/>
        </p:spPr>
      </p:pic>
      <p:sp>
        <p:nvSpPr>
          <p:cNvPr id="22" name="TextBox 21"/>
          <p:cNvSpPr txBox="1"/>
          <p:nvPr/>
        </p:nvSpPr>
        <p:spPr>
          <a:xfrm>
            <a:off x="8366760" y="5285232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 spc="150">
                <a:solidFill>
                  <a:srgbClr val="FFB81C"/>
                </a:solidFill>
                <a:latin typeface="Arial"/>
              </a:rPr>
              <a:t>LUCHELLE  •  GRADE 3A1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South African Hero — Natalie du Toit</dc:title>
  <dc:subject>Grade 3 oral presentation</dc:subject>
  <dc:creator>Luchelle Crafford, Grade 3A1, Panorama Primary School</dc:creator>
  <cp:keywords>Natalie du Toit, South Africa, Paralympic, Beijing 2008, Panorama Primary School</cp:keywords>
  <dc:description>Facts verified via Britannica, ESPN/AP, The Independent, Paralympic.org. Beijing photo: Heath Campanaro / Australian Paralympic Committee, Wikimedia Commons, CC BY-SA 3.0. Crest: panoramaps.co.za. Full sources in slide 6 notes.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